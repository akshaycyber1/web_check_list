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68" r:id="rId5"/>
    <p:sldId id="258" r:id="rId6"/>
    <p:sldId id="259" r:id="rId7"/>
    <p:sldId id="260" r:id="rId8"/>
    <p:sldId id="261" r:id="rId9"/>
    <p:sldId id="262" r:id="rId10"/>
    <p:sldId id="267" r:id="rId11"/>
    <p:sldId id="263" r:id="rId12"/>
    <p:sldId id="269" r:id="rId13"/>
    <p:sldId id="270" r:id="rId14"/>
    <p:sldId id="271" r:id="rId15"/>
    <p:sldId id="272" r:id="rId16"/>
    <p:sldId id="264" r:id="rId17"/>
    <p:sldId id="26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47489-2E80-3C5B-14B1-89E07850A2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89AF73-B61B-DC0B-C759-99671C22D1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24E364-BDC7-28E0-45C6-2AE303080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7E33E-7C00-4035-8225-39A5F9E07EEC}" type="datetimeFigureOut">
              <a:rPr lang="en-IN" smtClean="0"/>
              <a:t>23-02-2025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ED4FE9-9DE2-6509-3806-75C8C2441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9AE652-13B5-5DF2-3C87-B607ACB3C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35AD3-CB12-499F-A463-22AA22ADE5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4960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76378-72C4-38E9-503E-BB70D1328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4FAA6-40E8-191A-DFAB-E13E0FC10B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D2482F-6F16-B2A7-A310-54E493836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7E33E-7C00-4035-8225-39A5F9E07EEC}" type="datetimeFigureOut">
              <a:rPr lang="en-IN" smtClean="0"/>
              <a:t>23-02-2025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7EAAB-F1AF-2AFB-7AB4-5C7D32D51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AAFB74-2859-D243-121B-4402D3C80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35AD3-CB12-499F-A463-22AA22ADE5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617763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BAF84-9C65-D4B2-1903-CB0C5D7C6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B042F9-242B-2990-E6C6-2F70A6C582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A72D54-7BA8-A208-71C3-C78CA7826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7E33E-7C00-4035-8225-39A5F9E07EEC}" type="datetimeFigureOut">
              <a:rPr lang="en-IN" smtClean="0"/>
              <a:t>23-02-2025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EF79FE-E493-2981-DE3A-648B7E4AE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030387-3260-2415-324E-C66B95D93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35AD3-CB12-499F-A463-22AA22ADE5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398953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CACEA-ABF0-9106-022E-17F658DE1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210D7F-61B6-CD22-A5C7-56AAA64AB0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20A671-3F43-F2B3-572A-D38AD76EF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E88549-959D-DAD8-A657-902AA46A4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7E33E-7C00-4035-8225-39A5F9E07EEC}" type="datetimeFigureOut">
              <a:rPr lang="en-IN" smtClean="0"/>
              <a:t>23-02-2025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EC30C3-50F7-9C31-39A2-8D44E6D97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0D19D5-D9DF-FA54-F796-136DD95CC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35AD3-CB12-499F-A463-22AA22ADE5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9876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0466D-6207-6664-F63E-3E729CE16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DA736D-9652-A633-8B9C-A661F5AB8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293CAF-B577-880A-E244-651B8B138F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5C367C-20C6-ABCF-667E-F285BF8B42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F28D60-53B3-3BE0-2A24-B6E4BA8F67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5A1EA4-13E4-A494-B384-43CFF4122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7E33E-7C00-4035-8225-39A5F9E07EEC}" type="datetimeFigureOut">
              <a:rPr lang="en-IN" smtClean="0"/>
              <a:t>23-02-2025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33D5F7-F72D-B9CB-D52F-AE3B5C40A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AD832A-1818-70A5-245D-23C51F8FE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35AD3-CB12-499F-A463-22AA22ADE5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8400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9B2C8-895E-BAA2-FCA1-49A748F22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F38C63-6F1C-F1B9-3260-5B6F3BCCD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7E33E-7C00-4035-8225-39A5F9E07EEC}" type="datetimeFigureOut">
              <a:rPr lang="en-IN" smtClean="0"/>
              <a:t>23-02-2025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C087C9-C949-E646-CC41-B8C1D0776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DBAB3C-A9F0-9329-8ED7-EC72C82DD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35AD3-CB12-499F-A463-22AA22ADE5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80795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315043-7070-92B4-4FD4-B0CBF7B2D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7E33E-7C00-4035-8225-39A5F9E07EEC}" type="datetimeFigureOut">
              <a:rPr lang="en-IN" smtClean="0"/>
              <a:t>23-02-2025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DCCBD5-77E2-6069-03C9-8A5C3D4D2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935884-719A-0F7A-BB13-BCF513A91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35AD3-CB12-499F-A463-22AA22ADE5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40401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4A09F-2935-CE67-BD8A-7A04ABF96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6F718-9F59-A89B-76AE-1F933A75D6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B96C8A-1C0E-746A-C6A1-3C138007A5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2007BA-E850-55CB-B6EB-495B5464D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7E33E-7C00-4035-8225-39A5F9E07EEC}" type="datetimeFigureOut">
              <a:rPr lang="en-IN" smtClean="0"/>
              <a:t>23-02-2025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54B166-4770-45BD-34F9-057F17A4F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9D8170-F4F7-9625-7DD9-E8D51FF84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35AD3-CB12-499F-A463-22AA22ADE5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88639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4DA29-DCC8-5BF7-1854-612D8A96D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0E9032-501E-DCA8-E9BA-CC25BCE2D7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A5F3E6-7E65-3B9E-04CA-48BEAA2B54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A020C5-9E9D-FA2E-60F0-401FF4BD5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7E33E-7C00-4035-8225-39A5F9E07EEC}" type="datetimeFigureOut">
              <a:rPr lang="en-IN" smtClean="0"/>
              <a:t>23-02-2025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3FBCFE-4870-5CDE-8819-5E482AB59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D96524-06B8-24CA-67A7-1E9464703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35AD3-CB12-499F-A463-22AA22ADE5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595933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84169-EC41-88A2-876C-1346C24DB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1E537F-33A8-F00E-2CDA-A8A5D72ACF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8BDB86-EC8D-361B-5732-A5E43968E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7E33E-7C00-4035-8225-39A5F9E07EEC}" type="datetimeFigureOut">
              <a:rPr lang="en-IN" smtClean="0"/>
              <a:t>23-02-2025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6B18E-16E3-FBEC-E763-B9B57B00E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37BAB9-0600-AD77-0684-929254B8D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35AD3-CB12-499F-A463-22AA22ADE5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891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F64387-D4E3-BB8E-9704-AD60D0F189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C65620-D921-452B-39B4-1D543032B9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F50AE9-3A3E-23B7-52AA-0F0EC3408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7E33E-7C00-4035-8225-39A5F9E07EEC}" type="datetimeFigureOut">
              <a:rPr lang="en-IN" smtClean="0"/>
              <a:t>23-02-2025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B2F53-34BA-9CBE-D823-07AEE2CC2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5EAA23-FF0F-3C27-FB9A-E1D2FC45B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35AD3-CB12-499F-A463-22AA22ADE5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37692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2EDAA6-6E2B-DB1A-3820-DE819B8A6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E46B71-B0D3-62BA-C068-1A212D3288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81EDC0-E30F-629B-FD69-69E162DE20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C7E33E-7C00-4035-8225-39A5F9E07EEC}" type="datetimeFigureOut">
              <a:rPr lang="en-IN" smtClean="0"/>
              <a:t>23-02-2025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99263E-3B64-74C8-D7E3-A04D5529C1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79738E-02E0-EB6F-2683-9A539D3206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A35AD3-CB12-499F-A463-22AA22ADE5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2409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hyperlink" Target="http://www.example.com/" TargetMode="Externa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386CA-2A28-4BE3-C251-E8ED1A8234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IN" sz="4400" b="1" kern="1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Web Application Penetration Testing</a:t>
            </a:r>
            <a:br>
              <a:rPr lang="en-IN" sz="3200" kern="1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en-IN" sz="8000" dirty="0">
              <a:solidFill>
                <a:srgbClr val="00206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231694-C935-C279-20FE-2A95ACEA96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sz="2800" b="1" kern="100" dirty="0">
                <a:solidFill>
                  <a:srgbClr val="00B0F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Introduction to Web Applications</a:t>
            </a:r>
            <a:endParaRPr lang="en-IN" sz="2800" kern="100" dirty="0">
              <a:solidFill>
                <a:srgbClr val="00B0F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5200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15E366-0960-5688-0ECE-CADAAAEE76DE}"/>
              </a:ext>
            </a:extLst>
          </p:cNvPr>
          <p:cNvSpPr txBox="1"/>
          <p:nvPr/>
        </p:nvSpPr>
        <p:spPr>
          <a:xfrm>
            <a:off x="452284" y="432619"/>
            <a:ext cx="11464413" cy="4676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3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What is a Web Application?</a:t>
            </a:r>
            <a:endParaRPr lang="en-IN" sz="3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web application is a software application that runs on a web server and is accessed through a web browser. Unlike traditional desktop applications, web applications do not require installation on the user’s device.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3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What is a Web Application Server?</a:t>
            </a:r>
            <a:endParaRPr lang="en-IN" sz="3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web application server is a platform that handles application logic, database interactions, and the delivery of web content. 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Examples: Apache Tomcat, Nginx, and Microsoft IIS.</a:t>
            </a:r>
            <a:endParaRPr lang="en-IN" sz="2400" dirty="0"/>
          </a:p>
          <a:p>
            <a:endParaRPr lang="en-IN" sz="2400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666826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8953BD5-084A-49B0-EB4B-67D0EBACA0C1}"/>
              </a:ext>
            </a:extLst>
          </p:cNvPr>
          <p:cNvSpPr txBox="1"/>
          <p:nvPr/>
        </p:nvSpPr>
        <p:spPr>
          <a:xfrm>
            <a:off x="235973" y="155595"/>
            <a:ext cx="11838039" cy="2289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3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Terms Related to Web Applications</a:t>
            </a:r>
            <a:endParaRPr lang="en-IN" sz="3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Client: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The end-user device (browser) that interacts with the web application.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Server: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The backend system that processes requests and serves responses.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Database: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Stores user data, transactions, and application content.</a:t>
            </a:r>
          </a:p>
        </p:txBody>
      </p:sp>
      <p:pic>
        <p:nvPicPr>
          <p:cNvPr id="3076" name="Picture 4" descr="three-tier-architecture | SQL DBA School">
            <a:extLst>
              <a:ext uri="{FF2B5EF4-FFF2-40B4-BE49-F238E27FC236}">
                <a16:creationId xmlns:a16="http://schemas.microsoft.com/office/drawing/2014/main" id="{CC9D0663-5239-F7C9-C872-250712901D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147" y="2765784"/>
            <a:ext cx="10920105" cy="3936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4091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340DF3-3D6E-341D-1192-C52D3D2887D0}"/>
              </a:ext>
            </a:extLst>
          </p:cNvPr>
          <p:cNvSpPr txBox="1"/>
          <p:nvPr/>
        </p:nvSpPr>
        <p:spPr>
          <a:xfrm>
            <a:off x="334296" y="452284"/>
            <a:ext cx="12260827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/>
              <a:t>Exploitation of Dangerous HTTP Method</a:t>
            </a:r>
          </a:p>
          <a:p>
            <a:r>
              <a:rPr lang="en-US" sz="2800" dirty="0"/>
              <a:t>---------------------------------------------------------&gt;</a:t>
            </a:r>
          </a:p>
          <a:p>
            <a:r>
              <a:rPr lang="en-US" sz="2800" dirty="0"/>
              <a:t>If you want to know which method are enabled, try to use 'OPTION'</a:t>
            </a:r>
          </a:p>
          <a:p>
            <a:endParaRPr lang="en-US" sz="2800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59946F63-0E93-9084-2FBB-44757AB579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296" y="2089859"/>
            <a:ext cx="11169445" cy="4570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OPTIONS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Retrieves the list of allowed HTTP methods on the server.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Allows storing an enclosed entity on the server (often used for file uploads, which can be exploited for web shell uploads).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Retrieves information from the server (can be used to extract sensitive data).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HEAD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Similar to </a:t>
            </a:r>
            <a:r>
              <a:rPr lang="en-US" altLang="en-US" sz="2000" dirty="0">
                <a:latin typeface="Arial" panose="020B0604020202020204" pitchFamily="34" charset="0"/>
              </a:rPr>
              <a:t>GET, but retrieves only the headers, without the response body.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Sends data to the server, commonly used for form submissions and API interactions.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TRACE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Echoes back the received request, often used for debugging but can be exploited for XST (Cross-Site Tracing) attacks.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DELETE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Removes a specified resource from the server (can be dangerous if misconfigured).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051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759F8A-64C0-4837-3FA9-FFB4CE2ECB08}"/>
              </a:ext>
            </a:extLst>
          </p:cNvPr>
          <p:cNvSpPr txBox="1"/>
          <p:nvPr/>
        </p:nvSpPr>
        <p:spPr>
          <a:xfrm>
            <a:off x="432619" y="658761"/>
            <a:ext cx="10835149" cy="38827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36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How Web Applications Work</a:t>
            </a:r>
            <a:endParaRPr lang="en-IN" sz="36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User interacts with the web interface (frontend).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Browser sends requests to the server.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Server processes requests and interacts with the database if necessary.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server returns a response to the client.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browser renders the response for the user.</a:t>
            </a:r>
          </a:p>
          <a:p>
            <a:endParaRPr lang="en-IN" dirty="0"/>
          </a:p>
        </p:txBody>
      </p:sp>
      <p:pic>
        <p:nvPicPr>
          <p:cNvPr id="4098" name="Picture 2" descr="Client-Server Architecture | EN.601.421: Object-Oriented Software ...">
            <a:extLst>
              <a:ext uri="{FF2B5EF4-FFF2-40B4-BE49-F238E27FC236}">
                <a16:creationId xmlns:a16="http://schemas.microsoft.com/office/drawing/2014/main" id="{349563F9-2D20-FBDF-82EB-83ECD612D8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447998"/>
            <a:ext cx="12192000" cy="3410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5654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2A134A-1763-42DF-8C4D-3E199E681883}"/>
              </a:ext>
            </a:extLst>
          </p:cNvPr>
          <p:cNvSpPr txBox="1"/>
          <p:nvPr/>
        </p:nvSpPr>
        <p:spPr>
          <a:xfrm>
            <a:off x="5638800" y="2974258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857903-C633-41A1-A03C-45F03141944C}"/>
              </a:ext>
            </a:extLst>
          </p:cNvPr>
          <p:cNvSpPr txBox="1"/>
          <p:nvPr/>
        </p:nvSpPr>
        <p:spPr>
          <a:xfrm>
            <a:off x="176981" y="363794"/>
            <a:ext cx="12015019" cy="7543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3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Technologies Used in Web Apps</a:t>
            </a:r>
            <a:endParaRPr lang="en-IN" sz="3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Frontend Technologies: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HTML, CSS, JavaScript (React, Angular, Vue.js).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Backend Technologies: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Node.js, Django, Flask, PHP, Ruby.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Databases: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MySQL, PostgreSQL, Firebase, MongoDB.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Security &amp; Performance: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Web Application Firewalls (WAF), Content Delivery Networks (CDN).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Networking &amp; APIs: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Communication between frontend and backend via REST or </a:t>
            </a:r>
            <a:r>
              <a:rPr lang="en-IN" sz="24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GraphQL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APIs.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36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Types of Web Applications</a:t>
            </a:r>
            <a:endParaRPr lang="en-IN" sz="36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Static Web Apps: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Simple pages with no interaction (e.g., portfolios, blogs).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Dynamic Web Apps: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Apps that interact with a database (e.g., e-commerce sites, social media).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endParaRPr lang="en-IN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>
              <a:lnSpc>
                <a:spcPct val="107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endParaRPr lang="en-IN" sz="24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2469883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5F2C20-BA58-F85C-4143-9C1BF2928915}"/>
              </a:ext>
            </a:extLst>
          </p:cNvPr>
          <p:cNvSpPr txBox="1"/>
          <p:nvPr/>
        </p:nvSpPr>
        <p:spPr>
          <a:xfrm>
            <a:off x="88490" y="88491"/>
            <a:ext cx="11818375" cy="7057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0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Fundamentals of a URL (Uniform Resource Locator)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</a:t>
            </a:r>
            <a:r>
              <a:rPr lang="en-IN" sz="1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URL (Uniform Resource Locator)</a:t>
            </a: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is the address used to access resources on the internet, such as web pages, images, and files. It consists of multiple components that define how to locate and retrieve the resource.</a:t>
            </a:r>
          </a:p>
          <a:p>
            <a:pPr>
              <a:spcAft>
                <a:spcPts val="800"/>
              </a:spcAft>
            </a:pPr>
            <a:r>
              <a:rPr lang="en-IN" sz="1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Components of a URL</a:t>
            </a:r>
            <a:endParaRPr lang="en-IN" sz="1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1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Protocol (Scheme)</a:t>
            </a:r>
            <a:endParaRPr lang="en-IN" sz="1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Examples: http, https</a:t>
            </a:r>
          </a:p>
          <a:p>
            <a:pPr marL="742950" lvl="1" indent="-285750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Example: https://</a:t>
            </a:r>
          </a:p>
          <a:p>
            <a:pPr marL="342900" lvl="0" indent="-342900"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1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Domain Name (Host)</a:t>
            </a:r>
            <a:endParaRPr lang="en-IN" sz="1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Can be a hostname (www.example.com) or an IP address (192.168.1.1).</a:t>
            </a:r>
          </a:p>
          <a:p>
            <a:pPr marL="742950" lvl="1" indent="-285750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Example: </a:t>
            </a: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  <a:hlinkClick r:id="rId2"/>
              </a:rPr>
              <a:t>www.example.com</a:t>
            </a:r>
            <a:endParaRPr lang="en-IN" sz="1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12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DNS</a:t>
            </a:r>
            <a:endParaRPr lang="en-IN" sz="1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1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Port </a:t>
            </a:r>
            <a:endParaRPr lang="en-IN" sz="1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Specifies the communication port on the server.</a:t>
            </a:r>
          </a:p>
          <a:p>
            <a:pPr marL="742950" lvl="1" indent="-285750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Default ports: 80 for HTTP, 443 for HTTPS.</a:t>
            </a:r>
          </a:p>
          <a:p>
            <a:pPr marL="742950" lvl="1" indent="-285750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Example: :443</a:t>
            </a:r>
          </a:p>
          <a:p>
            <a:pPr marL="342900" lvl="0" indent="-342900"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1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Path</a:t>
            </a:r>
            <a:endParaRPr lang="en-IN" sz="1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Indicates the specific resource or directory on the server.</a:t>
            </a:r>
          </a:p>
          <a:p>
            <a:pPr marL="742950" lvl="1" indent="-285750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Example: /blog/article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How URLs Work in Web Applications</a:t>
            </a:r>
            <a:endParaRPr lang="en-IN" sz="1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1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User enters a URL</a:t>
            </a: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→ Browser sends an HTTP/HTTPS request.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1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DNS resolves the domain name</a:t>
            </a: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→ Translates it into an IP address.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1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Server processes the request</a:t>
            </a: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→ Returns the requested resource.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1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Browser renders the response</a:t>
            </a: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→ Displays content to the user.</a:t>
            </a:r>
          </a:p>
          <a:p>
            <a:endParaRPr lang="en-IN" dirty="0"/>
          </a:p>
        </p:txBody>
      </p:sp>
      <p:sp>
        <p:nvSpPr>
          <p:cNvPr id="3" name="AutoShape 4" descr="Requirements of Website &amp; Build a Stunning Website Step-by-Step - TIPsoont">
            <a:extLst>
              <a:ext uri="{FF2B5EF4-FFF2-40B4-BE49-F238E27FC236}">
                <a16:creationId xmlns:a16="http://schemas.microsoft.com/office/drawing/2014/main" id="{BEF9A4D1-0EF5-0C3E-25D5-07E47C41339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2054" name="Picture 6" descr="Requirements of Website &amp; Build a Stunning Website Step-by-Step - TIPsoont">
            <a:extLst>
              <a:ext uri="{FF2B5EF4-FFF2-40B4-BE49-F238E27FC236}">
                <a16:creationId xmlns:a16="http://schemas.microsoft.com/office/drawing/2014/main" id="{7EDDA6FC-5131-08AF-6B8F-AABD70D0C3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619" y="2855374"/>
            <a:ext cx="7187381" cy="3772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6595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6E3E6D-DF5F-C368-77B6-256B1BB74576}"/>
              </a:ext>
            </a:extLst>
          </p:cNvPr>
          <p:cNvSpPr txBox="1"/>
          <p:nvPr/>
        </p:nvSpPr>
        <p:spPr>
          <a:xfrm>
            <a:off x="0" y="0"/>
            <a:ext cx="12192000" cy="75316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Phases of Web Application Penetration Testing</a:t>
            </a:r>
            <a:endParaRPr lang="en-IN" sz="2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1. Reconnaissance (Information Gathering)</a:t>
            </a:r>
            <a:endParaRPr lang="en-IN" sz="2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Gathering initial information about the target application.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Passive Reconnaissance: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WHOIS lookup, Google Dorking, Shodan, OSINT.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Active Reconnaissance: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Subdomain enumeration, DNS lookup, banner grabbing.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Tools: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IN" sz="28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Nmap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Sublist3r, Recon-ng, </a:t>
            </a:r>
            <a:r>
              <a:rPr lang="en-IN" sz="28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OSINT.</a:t>
            </a:r>
          </a:p>
          <a:p>
            <a:pPr lvl="0">
              <a:lnSpc>
                <a:spcPct val="107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endParaRPr lang="en-IN" sz="2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2. Scanning for Vulnerabilities</a:t>
            </a:r>
            <a:endParaRPr lang="en-IN" sz="2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Identifying potential security flaws using automated and manual testing.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Automated Scanners: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Burp Suite, HCL App Scan, </a:t>
            </a:r>
            <a:r>
              <a:rPr lang="en-IN" sz="2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Nikto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OWASP ZAP.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Manual Testing: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Checking headers, cookies, parameters</a:t>
            </a:r>
            <a:r>
              <a:rPr lang="en-IN" sz="28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and every input field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Directory </a:t>
            </a:r>
            <a:r>
              <a:rPr lang="en-IN" sz="2800" b="1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Bruteforcing</a:t>
            </a: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IN" sz="2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dirsearch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IN" sz="2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gobuster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IN" sz="2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fuff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pPr lvl="0">
              <a:lnSpc>
                <a:spcPct val="107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endParaRPr lang="en-IN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9319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111A96-AC04-F753-CD15-7B231CBAEA3C}"/>
              </a:ext>
            </a:extLst>
          </p:cNvPr>
          <p:cNvSpPr txBox="1"/>
          <p:nvPr/>
        </p:nvSpPr>
        <p:spPr>
          <a:xfrm>
            <a:off x="255638" y="159836"/>
            <a:ext cx="11680723" cy="6538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Exploiting Web Vulnerabilities</a:t>
            </a:r>
            <a:endParaRPr lang="en-IN" sz="2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SQL Injection (SQLi):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Extracting sensitive database info.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Cross-Site Scripting (XSS):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Injecting malicious scripts.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Broken Authentication: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Bypassing login mechanisms.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Tools: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IN" sz="2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sqlmap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Burp suite,  XSS Hunter, </a:t>
            </a:r>
            <a:r>
              <a:rPr lang="en-IN" sz="2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wfuzz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hydra.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en-IN" sz="2800" b="1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Reporting &amp; Remediation</a:t>
            </a:r>
            <a:endParaRPr lang="en-IN" sz="2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Documenting Findings: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Categorizing severity (Critical, High, Medium, Low).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Providing Proof-of-Concept (PoC).</a:t>
            </a:r>
            <a:endParaRPr lang="en-IN" sz="2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Suggesting Fixes &amp; Best Practices.</a:t>
            </a:r>
            <a:endParaRPr lang="en-IN" sz="2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Tools for Reporting: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MS Word</a:t>
            </a:r>
          </a:p>
          <a:p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1762076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116EB4-DFE0-CB87-879E-733CCEB218E3}"/>
              </a:ext>
            </a:extLst>
          </p:cNvPr>
          <p:cNvSpPr txBox="1"/>
          <p:nvPr/>
        </p:nvSpPr>
        <p:spPr>
          <a:xfrm>
            <a:off x="422787" y="916546"/>
            <a:ext cx="11769213" cy="526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600" b="1" dirty="0"/>
              <a:t>cybersecurity standards and frameworks</a:t>
            </a:r>
            <a:endParaRPr lang="en-US" sz="3600" b="1" dirty="0"/>
          </a:p>
          <a:p>
            <a:endParaRPr lang="en-US" sz="3600" b="1" dirty="0"/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3600" b="1" dirty="0"/>
              <a:t>OWASP Top 10: </a:t>
            </a:r>
            <a:r>
              <a:rPr lang="en-US" sz="3600" dirty="0"/>
              <a:t>Open Web Application Security Project.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b="1" dirty="0"/>
              <a:t>NIST Cybersecurity Framework </a:t>
            </a:r>
            <a:r>
              <a:rPr lang="en-US" sz="3600" dirty="0"/>
              <a:t>(National Institute of Standards and Technology)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b="1" dirty="0"/>
              <a:t>SANS CWE Top 25 </a:t>
            </a:r>
            <a:r>
              <a:rPr lang="en-US" sz="3600" dirty="0"/>
              <a:t>(Common Weakness Enumeration)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b="1" dirty="0"/>
              <a:t>CIS Controls </a:t>
            </a:r>
            <a:r>
              <a:rPr lang="en-US" sz="3600" dirty="0"/>
              <a:t>(Center for Internet Security)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557317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Mapping">
            <a:extLst>
              <a:ext uri="{FF2B5EF4-FFF2-40B4-BE49-F238E27FC236}">
                <a16:creationId xmlns:a16="http://schemas.microsoft.com/office/drawing/2014/main" id="{37CA3F61-9C5C-743C-687F-B736DD417D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06013"/>
            <a:ext cx="12192000" cy="5545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571E724-CE13-EC0E-59CB-6AAA190145B8}"/>
              </a:ext>
            </a:extLst>
          </p:cNvPr>
          <p:cNvSpPr txBox="1"/>
          <p:nvPr/>
        </p:nvSpPr>
        <p:spPr>
          <a:xfrm>
            <a:off x="924233" y="0"/>
            <a:ext cx="1004856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000" b="1" i="0" u="sng" dirty="0">
                <a:solidFill>
                  <a:srgbClr val="171717"/>
                </a:solidFill>
                <a:effectLst/>
                <a:latin typeface="-apple-system"/>
              </a:rPr>
              <a:t>OWASP Top 10: a framework for web security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607640-877E-37E8-8C2C-2202F970955B}"/>
              </a:ext>
            </a:extLst>
          </p:cNvPr>
          <p:cNvSpPr txBox="1"/>
          <p:nvPr/>
        </p:nvSpPr>
        <p:spPr>
          <a:xfrm>
            <a:off x="2300748" y="707886"/>
            <a:ext cx="820993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Open Web Application Security Project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11130650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37C2BC4F-4783-B35C-F8FB-B9286A20D76C}"/>
              </a:ext>
            </a:extLst>
          </p:cNvPr>
          <p:cNvSpPr txBox="1"/>
          <p:nvPr/>
        </p:nvSpPr>
        <p:spPr>
          <a:xfrm>
            <a:off x="39329" y="235974"/>
            <a:ext cx="12113342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/>
              <a:t>1. Broken Access Control</a:t>
            </a:r>
          </a:p>
          <a:p>
            <a:r>
              <a:rPr lang="en-IN" sz="2400" dirty="0"/>
              <a:t>🔹 What it is: When users can access things they shouldn’t, like viewing or modifying other users' data.</a:t>
            </a:r>
          </a:p>
          <a:p>
            <a:r>
              <a:rPr lang="en-IN" sz="2400" dirty="0"/>
              <a:t>🔹 Example: A normal user can change their role to "Admin" by modifying a request in the browser's developer tools.</a:t>
            </a:r>
          </a:p>
          <a:p>
            <a:endParaRPr lang="en-IN" sz="2400" dirty="0"/>
          </a:p>
          <a:p>
            <a:r>
              <a:rPr lang="en-IN" sz="2400" b="1" dirty="0"/>
              <a:t>2. Cryptographic Failures (Previously: Sensitive Data Exposure)</a:t>
            </a:r>
          </a:p>
          <a:p>
            <a:r>
              <a:rPr lang="en-IN" sz="2400" dirty="0"/>
              <a:t>🔹 What it is: Weak encryption or no encryption, leading to sensitive data being exposed.</a:t>
            </a:r>
          </a:p>
          <a:p>
            <a:r>
              <a:rPr lang="en-IN" sz="2400" dirty="0"/>
              <a:t>🔹 Example: A website stores passwords in plain text instead of hashing them, making them easy to steal.</a:t>
            </a:r>
          </a:p>
          <a:p>
            <a:endParaRPr lang="en-IN" sz="2400" dirty="0"/>
          </a:p>
          <a:p>
            <a:r>
              <a:rPr lang="en-IN" sz="2400" b="1" dirty="0"/>
              <a:t>3. Injection</a:t>
            </a:r>
          </a:p>
          <a:p>
            <a:r>
              <a:rPr lang="en-IN" sz="2400" dirty="0"/>
              <a:t>🔹 What it is: Attacker sends malicious input (like SQL, NoSQL, or LDAP) to manipulate databases or commands.</a:t>
            </a:r>
          </a:p>
          <a:p>
            <a:r>
              <a:rPr lang="en-IN" sz="2400" dirty="0"/>
              <a:t>🔹 Example: A login form allows ' OR 1=1 -- as a username, bypassing authentication.</a:t>
            </a:r>
          </a:p>
          <a:p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5531684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FF5627-3782-F7FF-8344-95AE55F32E72}"/>
              </a:ext>
            </a:extLst>
          </p:cNvPr>
          <p:cNvSpPr txBox="1"/>
          <p:nvPr/>
        </p:nvSpPr>
        <p:spPr>
          <a:xfrm>
            <a:off x="127819" y="355424"/>
            <a:ext cx="12192000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/>
              <a:t>4. Insecure Design (New category in 2021)</a:t>
            </a:r>
          </a:p>
          <a:p>
            <a:r>
              <a:rPr lang="en-IN" sz="2400" dirty="0"/>
              <a:t>🔹 What it is: Poorly designed security measures, leading to exploitable flaws.</a:t>
            </a:r>
          </a:p>
          <a:p>
            <a:r>
              <a:rPr lang="en-IN" sz="2400" dirty="0"/>
              <a:t>🔹 Example: A banking app allows unlimited incorrect PIN attempts, making brute-force attacks easy.</a:t>
            </a:r>
          </a:p>
          <a:p>
            <a:endParaRPr lang="en-IN" sz="2400" dirty="0"/>
          </a:p>
          <a:p>
            <a:r>
              <a:rPr lang="en-IN" sz="2400" b="1" dirty="0"/>
              <a:t>5. Security Misconfiguration</a:t>
            </a:r>
          </a:p>
          <a:p>
            <a:r>
              <a:rPr lang="en-IN" sz="2400" dirty="0"/>
              <a:t>🔹 What it is: Incorrect security settings that expose sensitive data or allow attackers to exploit weaknesses.</a:t>
            </a:r>
          </a:p>
          <a:p>
            <a:r>
              <a:rPr lang="en-IN" sz="2400" dirty="0"/>
              <a:t>🔹 Example: A cloud storage bucket is public by default, exposing private files to anyone with the link.</a:t>
            </a:r>
          </a:p>
          <a:p>
            <a:endParaRPr lang="en-IN" sz="2400" dirty="0"/>
          </a:p>
          <a:p>
            <a:r>
              <a:rPr lang="en-IN" sz="2400" b="1" dirty="0"/>
              <a:t>6. Vulnerable and Outdated Components (Previously: Using Components with Known Vulnerabilities)</a:t>
            </a:r>
          </a:p>
          <a:p>
            <a:r>
              <a:rPr lang="en-IN" sz="2400" dirty="0"/>
              <a:t>🔹 What it is: Using old software versions that have known security issues.</a:t>
            </a:r>
          </a:p>
          <a:p>
            <a:r>
              <a:rPr lang="en-IN" sz="2400" dirty="0"/>
              <a:t>🔹 Example: A website uses an outdated version of jQuery that has known security vulnerabilities.</a:t>
            </a:r>
          </a:p>
          <a:p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6277470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498953-7DE1-F1F5-A7FC-F50E98C4B35A}"/>
              </a:ext>
            </a:extLst>
          </p:cNvPr>
          <p:cNvSpPr txBox="1"/>
          <p:nvPr/>
        </p:nvSpPr>
        <p:spPr>
          <a:xfrm>
            <a:off x="108155" y="301518"/>
            <a:ext cx="12083845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/>
              <a:t>7. Identification and Authentication Failures (Previously: Broken Authentication)</a:t>
            </a:r>
          </a:p>
          <a:p>
            <a:r>
              <a:rPr lang="en-IN" sz="2400" dirty="0"/>
              <a:t>🔹 What it is: Weak authentication mechanisms, allowing attackers to impersonate users.</a:t>
            </a:r>
          </a:p>
          <a:p>
            <a:r>
              <a:rPr lang="en-IN" sz="2400" dirty="0"/>
              <a:t>🔹 Example: A site allows weak passwords like "123456" without enforcing password complexity rules.</a:t>
            </a:r>
          </a:p>
          <a:p>
            <a:endParaRPr lang="en-IN" sz="2400" dirty="0"/>
          </a:p>
          <a:p>
            <a:r>
              <a:rPr lang="en-IN" sz="2400" b="1" dirty="0"/>
              <a:t>8. Software and Data Integrity Failures (New category in 2021)</a:t>
            </a:r>
          </a:p>
          <a:p>
            <a:r>
              <a:rPr lang="en-IN" sz="2400" dirty="0"/>
              <a:t>🔹 What it is: When applications update or load code from untrusted sources, leading to tampering.</a:t>
            </a:r>
          </a:p>
          <a:p>
            <a:r>
              <a:rPr lang="en-IN" sz="2400" dirty="0"/>
              <a:t>🔹 Example: A website loads JavaScript from a third-party CDN without verifying its integrity, leading to malware injection.</a:t>
            </a:r>
          </a:p>
          <a:p>
            <a:endParaRPr lang="en-IN" sz="2400" dirty="0"/>
          </a:p>
          <a:p>
            <a:r>
              <a:rPr lang="en-IN" sz="2400" b="1" dirty="0"/>
              <a:t>9. Security Logging and Monitoring Failures (Previously: Insufficient Logging &amp; Monitoring)</a:t>
            </a:r>
          </a:p>
          <a:p>
            <a:r>
              <a:rPr lang="en-IN" sz="2400" dirty="0"/>
              <a:t>🔹 What it is: Not detecting or recording security events properly, making it hard to spot attacks.</a:t>
            </a:r>
          </a:p>
          <a:p>
            <a:r>
              <a:rPr lang="en-IN" sz="2400" dirty="0"/>
              <a:t>🔹 Example: A company doesn’t log failed login attempts, making brute-force attacks undetectable.</a:t>
            </a:r>
          </a:p>
        </p:txBody>
      </p:sp>
    </p:spTree>
    <p:extLst>
      <p:ext uri="{BB962C8B-B14F-4D97-AF65-F5344CB8AC3E}">
        <p14:creationId xmlns:p14="http://schemas.microsoft.com/office/powerpoint/2010/main" val="2347676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4873D9C-DA0E-66DD-3648-0946ADAD5138}"/>
              </a:ext>
            </a:extLst>
          </p:cNvPr>
          <p:cNvSpPr txBox="1"/>
          <p:nvPr/>
        </p:nvSpPr>
        <p:spPr>
          <a:xfrm>
            <a:off x="157317" y="353962"/>
            <a:ext cx="1163156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IN" sz="2800" dirty="0"/>
          </a:p>
          <a:p>
            <a:r>
              <a:rPr lang="en-IN" sz="2800" b="1" dirty="0"/>
              <a:t>10. Server-Side Request Forgery (SSRF) (New entry in 2021)</a:t>
            </a:r>
          </a:p>
          <a:p>
            <a:r>
              <a:rPr lang="en-IN" sz="2800" dirty="0"/>
              <a:t>🔹 What it is: Attacker tricks a server into making unauthorized requests to internal resources.</a:t>
            </a:r>
          </a:p>
          <a:p>
            <a:r>
              <a:rPr lang="en-IN" sz="2800" dirty="0"/>
              <a:t>🔹 Example: A web app allows users to fetch profile pictures via a URL but doesn’t validate input, allowing an attacker to request http://internal-company.com/secret.</a:t>
            </a:r>
          </a:p>
        </p:txBody>
      </p:sp>
    </p:spTree>
    <p:extLst>
      <p:ext uri="{BB962C8B-B14F-4D97-AF65-F5344CB8AC3E}">
        <p14:creationId xmlns:p14="http://schemas.microsoft.com/office/powerpoint/2010/main" val="24148682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F578307-B91A-57E1-86EB-29D03F65F4DA}"/>
              </a:ext>
            </a:extLst>
          </p:cNvPr>
          <p:cNvSpPr txBox="1"/>
          <p:nvPr/>
        </p:nvSpPr>
        <p:spPr>
          <a:xfrm>
            <a:off x="186814" y="-88490"/>
            <a:ext cx="11513574" cy="72555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Full Introduction to Burp Suite</a:t>
            </a:r>
            <a:endParaRPr lang="en-IN" sz="36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IN" sz="2400" dirty="0"/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What is Burp Suite?</a:t>
            </a:r>
            <a:endParaRPr lang="en-IN" sz="24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Burp Suite is a comprehensive tool for web security testing, used by penetration testers to find and exploit vulnerabilities in web applications.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en-IN" sz="24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Key Features of Burp Suite</a:t>
            </a:r>
            <a:endParaRPr lang="en-IN" sz="24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Proxy Interception: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Modify and </a:t>
            </a:r>
            <a:r>
              <a:rPr lang="en-IN" sz="24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analyze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HTTP requests.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Scanner: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Automated vulnerability scanning.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Intruder: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Fuzzing and brute-force testing.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Repeater: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Manually modify and resend requests.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Burp collaborator: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Comparer:</a:t>
            </a:r>
            <a:endParaRPr lang="en-IN" sz="2400" b="1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Decoder &amp; Comparer: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IN" sz="24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Analyze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encoded data and compare responses.</a:t>
            </a:r>
          </a:p>
          <a:p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495787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D35E84-E4B3-59C7-F96E-3BCD2CED020A}"/>
              </a:ext>
            </a:extLst>
          </p:cNvPr>
          <p:cNvSpPr txBox="1"/>
          <p:nvPr/>
        </p:nvSpPr>
        <p:spPr>
          <a:xfrm>
            <a:off x="314632" y="393290"/>
            <a:ext cx="11425084" cy="4588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4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Live Demonstration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endParaRPr lang="en-IN" sz="1800" b="1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SQL Injection Exploit: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Using </a:t>
            </a:r>
            <a:r>
              <a:rPr lang="en-IN" sz="24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sqlmap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to extract database information.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Clickjacking: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CSRF: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SSRF:</a:t>
            </a:r>
            <a:endParaRPr lang="en-IN" sz="2400" b="1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XSS Attack: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Injecting a script into a vulnerable input field.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Broken Authentication Exploit: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Testing weak password policies.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IN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9730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1510</Words>
  <Application>Microsoft Office PowerPoint</Application>
  <PresentationFormat>Widescreen</PresentationFormat>
  <Paragraphs>149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-apple-system</vt:lpstr>
      <vt:lpstr>Arial</vt:lpstr>
      <vt:lpstr>Calibri</vt:lpstr>
      <vt:lpstr>Calibri Light</vt:lpstr>
      <vt:lpstr>Courier New</vt:lpstr>
      <vt:lpstr>Symbol</vt:lpstr>
      <vt:lpstr>Office Theme</vt:lpstr>
      <vt:lpstr>Web Application Penetration Testing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Akshay .</dc:creator>
  <cp:lastModifiedBy>Akshay .</cp:lastModifiedBy>
  <cp:revision>9</cp:revision>
  <dcterms:created xsi:type="dcterms:W3CDTF">2025-02-20T15:44:55Z</dcterms:created>
  <dcterms:modified xsi:type="dcterms:W3CDTF">2025-02-23T05:04:12Z</dcterms:modified>
</cp:coreProperties>
</file>