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66" r:id="rId4"/>
    <p:sldId id="258" r:id="rId5"/>
    <p:sldId id="259" r:id="rId6"/>
    <p:sldId id="260" r:id="rId7"/>
    <p:sldId id="261" r:id="rId8"/>
    <p:sldId id="262" r:id="rId9"/>
    <p:sldId id="267" r:id="rId10"/>
    <p:sldId id="263" r:id="rId11"/>
    <p:sldId id="264" r:id="rId12"/>
    <p:sldId id="265" r:id="rId1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78" d="100"/>
          <a:sy n="78" d="100"/>
        </p:scale>
        <p:origin x="878" y="-101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8047489-2E80-3C5B-14B1-89E07850A2E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389AF73-B61B-DC0B-C759-99671C22D17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424E364-BDC7-28E0-45C6-2AE303080C6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C7E33E-7C00-4035-8225-39A5F9E07EEC}" type="datetimeFigureOut">
              <a:rPr lang="en-IN" smtClean="0"/>
              <a:t>20-02-2025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4ED4FE9-9DE2-6509-3806-75C8C24410E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A9AE652-13B5-5DF2-3C87-B607ACB3C4A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DA35AD3-CB12-499F-A463-22AA22ADE5C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58496001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7B76378-72C4-38E9-503E-BB70D1328DA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074FAA6-40E8-191A-DFAB-E13E0FC10BC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AD2482F-6F16-B2A7-A310-54E4938361B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C7E33E-7C00-4035-8225-39A5F9E07EEC}" type="datetimeFigureOut">
              <a:rPr lang="en-IN" smtClean="0"/>
              <a:t>20-02-2025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BF7EAAB-F1AF-2AFB-7AB4-5C7D32D5131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AAAFB74-2859-D243-121B-4402D3C80BD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DA35AD3-CB12-499F-A463-22AA22ADE5C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2617763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A0BAF84-9C65-D4B2-1903-CB0C5D7C6F6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2B042F9-242B-2990-E6C6-2F70A6C582E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DA72D54-7BA8-A208-71C3-C78CA7826C0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C7E33E-7C00-4035-8225-39A5F9E07EEC}" type="datetimeFigureOut">
              <a:rPr lang="en-IN" smtClean="0"/>
              <a:t>20-02-2025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6EF79FE-E493-2981-DE3A-648B7E4AE78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5030387-3260-2415-324E-C66B95D93C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DA35AD3-CB12-499F-A463-22AA22ADE5C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13989532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F8CACEA-ABF0-9106-022E-17F658DE1A2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2210D7F-61B6-CD22-A5C7-56AAA64AB0C9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020A671-3F43-F2B3-572A-D38AD76EF5F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6E88549-959D-DAD8-A657-902AA46A485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C7E33E-7C00-4035-8225-39A5F9E07EEC}" type="datetimeFigureOut">
              <a:rPr lang="en-IN" smtClean="0"/>
              <a:t>20-02-2025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EEC30C3-50F7-9C31-39A2-8D44E6D9761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C0D19D5-D9DF-FA54-F796-136DD95CC83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DA35AD3-CB12-499F-A463-22AA22ADE5C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20987663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C50466D-6207-6664-F63E-3E729CE1616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BDA736D-9652-A633-8B9C-A661F5AB885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4293CAF-B577-880A-E244-651B8B138FA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045C367C-20C6-ABCF-667E-F285BF8B42D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56F28D60-53B3-3BE0-2A24-B6E4BA8F6756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5C5A1EA4-13E4-A494-B384-43CFF41223B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C7E33E-7C00-4035-8225-39A5F9E07EEC}" type="datetimeFigureOut">
              <a:rPr lang="en-IN" smtClean="0"/>
              <a:t>20-02-2025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8033D5F7-F72D-B9CB-D52F-AE3B5C40AF1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1BAD832A-1818-70A5-245D-23C51F8FE79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DA35AD3-CB12-499F-A463-22AA22ADE5C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73840030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E99B2C8-895E-BAA2-FCA1-49A748F22FF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F1F38C63-6F1C-F1B9-3260-5B6F3BCCD61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C7E33E-7C00-4035-8225-39A5F9E07EEC}" type="datetimeFigureOut">
              <a:rPr lang="en-IN" smtClean="0"/>
              <a:t>20-02-2025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FC087C9-C949-E646-CC41-B8C1D07760D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7DBAB3C-A9F0-9329-8ED7-EC72C82DD6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DA35AD3-CB12-499F-A463-22AA22ADE5C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94807955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50315043-7070-92B4-4FD4-B0CBF7B2D7C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C7E33E-7C00-4035-8225-39A5F9E07EEC}" type="datetimeFigureOut">
              <a:rPr lang="en-IN" smtClean="0"/>
              <a:t>20-02-2025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4ADCCBD5-77E2-6069-03C9-8A5C3D4D259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7935884-719A-0F7A-BB13-BCF513A9187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DA35AD3-CB12-499F-A463-22AA22ADE5C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24404012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064A09F-2935-CE67-BD8A-7A04ABF9606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6A6F718-9F59-A89B-76AE-1F933A75D62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DB96C8A-1C0E-746A-C6A1-3C138007A52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72007BA-E850-55CB-B6EB-495B5464DB0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C7E33E-7C00-4035-8225-39A5F9E07EEC}" type="datetimeFigureOut">
              <a:rPr lang="en-IN" smtClean="0"/>
              <a:t>20-02-2025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B54B166-4770-45BD-34F9-057F17A4FE4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D9D8170-F4F7-9625-7DD9-E8D51FF84E0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DA35AD3-CB12-499F-A463-22AA22ADE5C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3886398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854DA29-DCC8-5BF7-1854-612D8A96DAC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4E0E9032-501E-DCA8-E9BA-CC25BCE2D7F9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EA5F3E6-7E65-3B9E-04CA-48BEAA2B545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CA020C5-9E9D-FA2E-60F0-401FF4BD5E5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C7E33E-7C00-4035-8225-39A5F9E07EEC}" type="datetimeFigureOut">
              <a:rPr lang="en-IN" smtClean="0"/>
              <a:t>20-02-2025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E3FBCFE-4870-5CDE-8819-5E482AB5965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1D96524-06B8-24CA-67A7-1E946470334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DA35AD3-CB12-499F-A463-22AA22ADE5C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25959330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0084169-EC41-88A2-876C-1346C24DB9F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A1E537F-33A8-F00E-2CDA-A8A5D72ACFD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88BDB86-EC8D-361B-5732-A5E43968E21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C7E33E-7C00-4035-8225-39A5F9E07EEC}" type="datetimeFigureOut">
              <a:rPr lang="en-IN" smtClean="0"/>
              <a:t>20-02-2025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F16B18E-16E3-FBEC-E763-B9B57B00ED1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E37BAB9-0600-AD77-0684-929254B8DA2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DA35AD3-CB12-499F-A463-22AA22ADE5C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1589102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95F64387-D4E3-BB8E-9704-AD60D0F189DD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FC65620-D921-452B-39B4-1D543032B99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2F50AE9-3A3E-23B7-52AA-0F0EC34080E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C7E33E-7C00-4035-8225-39A5F9E07EEC}" type="datetimeFigureOut">
              <a:rPr lang="en-IN" smtClean="0"/>
              <a:t>20-02-2025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8DB2F53-34BA-9CBE-D823-07AEE2CC280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B5EAA23-FF0F-3C27-FB9A-E1D2FC45B2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DA35AD3-CB12-499F-A463-22AA22ADE5C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37376926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272EDAA6-6E2B-DB1A-3820-DE819B8A663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2E46B71-B0D3-62BA-C068-1A212D32883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B81EDC0-E30F-629B-FD69-69E162DE20B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6C7E33E-7C00-4035-8225-39A5F9E07EEC}" type="datetimeFigureOut">
              <a:rPr lang="en-IN" smtClean="0"/>
              <a:t>20-02-2025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A99263E-3B64-74C8-D7E3-A04D5529C1D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779738E-02E0-EB6F-2683-9A539D32062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DA35AD3-CB12-499F-A463-22AA22ADE5C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18240984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hyperlink" Target="http://www.example.com/" TargetMode="Externa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8B386CA-2A28-4BE3-C251-E8ED1A823460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IN" sz="3600" b="1" kern="100" dirty="0">
                <a:solidFill>
                  <a:srgbClr val="002060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Web Application Penetration Testing</a:t>
            </a:r>
            <a:br>
              <a:rPr lang="en-IN" sz="1800" kern="100" dirty="0">
                <a:solidFill>
                  <a:srgbClr val="002060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</a:br>
            <a:endParaRPr lang="en-IN" dirty="0">
              <a:solidFill>
                <a:srgbClr val="002060"/>
              </a:solidFill>
            </a:endParaRP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1231694-C935-C279-20FE-2A95ACEA96E0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IN" b="1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Introduction to Web Applications</a:t>
            </a:r>
            <a:endParaRPr lang="en-IN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47520090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1415E366-0960-5688-0ECE-CADAAAEE76DE}"/>
              </a:ext>
            </a:extLst>
          </p:cNvPr>
          <p:cNvSpPr txBox="1"/>
          <p:nvPr/>
        </p:nvSpPr>
        <p:spPr>
          <a:xfrm>
            <a:off x="452284" y="432619"/>
            <a:ext cx="11464413" cy="467653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IN" sz="3200" b="1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What is a Web Application?</a:t>
            </a:r>
            <a:endParaRPr lang="en-IN" sz="32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IN" sz="24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A web application is a software application that runs on a web server and is accessed through a web browser. Unlike traditional desktop applications, web applications do not require installation on the user’s device.</a:t>
            </a:r>
          </a:p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IN" sz="3200" b="1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What is a Web Application Server?</a:t>
            </a:r>
            <a:endParaRPr lang="en-IN" sz="32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IN" sz="24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A web application server is a platform that handles application logic, database interactions, and the delivery of web content. </a:t>
            </a:r>
          </a:p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IN" sz="24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Examples: Apache Tomcat, Nginx, and Microsoft IIS.</a:t>
            </a:r>
            <a:endParaRPr lang="en-IN" sz="2400" dirty="0"/>
          </a:p>
          <a:p>
            <a:endParaRPr lang="en-IN" sz="2400" dirty="0"/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06668268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B8953BD5-084A-49B0-EB4B-67D0EBACA0C1}"/>
              </a:ext>
            </a:extLst>
          </p:cNvPr>
          <p:cNvSpPr txBox="1"/>
          <p:nvPr/>
        </p:nvSpPr>
        <p:spPr>
          <a:xfrm>
            <a:off x="235973" y="155595"/>
            <a:ext cx="11838039" cy="228966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IN" sz="3200" b="1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Terms Related to Web Applications</a:t>
            </a:r>
            <a:endParaRPr lang="en-IN" sz="32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lvl="0" indent="-342900">
              <a:lnSpc>
                <a:spcPct val="107000"/>
              </a:lnSpc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IN" sz="2800" b="1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Client:</a:t>
            </a:r>
            <a:r>
              <a:rPr lang="en-IN" sz="28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The end-user device (browser) that interacts with the web application.</a:t>
            </a:r>
          </a:p>
          <a:p>
            <a:pPr marL="342900" lvl="0" indent="-342900">
              <a:lnSpc>
                <a:spcPct val="107000"/>
              </a:lnSpc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IN" sz="2800" b="1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Server:</a:t>
            </a:r>
            <a:r>
              <a:rPr lang="en-IN" sz="28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The backend system that processes requests and serves responses.</a:t>
            </a:r>
          </a:p>
          <a:p>
            <a:pPr marL="342900" lvl="0" indent="-342900">
              <a:lnSpc>
                <a:spcPct val="107000"/>
              </a:lnSpc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IN" sz="2800" b="1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Database:</a:t>
            </a:r>
            <a:r>
              <a:rPr lang="en-IN" sz="28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Stores user data, transactions, and application content.</a:t>
            </a:r>
          </a:p>
        </p:txBody>
      </p:sp>
      <p:pic>
        <p:nvPicPr>
          <p:cNvPr id="3076" name="Picture 4" descr="three-tier-architecture | SQL DBA School">
            <a:extLst>
              <a:ext uri="{FF2B5EF4-FFF2-40B4-BE49-F238E27FC236}">
                <a16:creationId xmlns:a16="http://schemas.microsoft.com/office/drawing/2014/main" id="{CC9D0663-5239-F7C9-C872-250712901D9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95147" y="2765784"/>
            <a:ext cx="10920105" cy="393662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8640917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80759F8A-64C0-4837-3FA9-FFB4CE2ECB08}"/>
              </a:ext>
            </a:extLst>
          </p:cNvPr>
          <p:cNvSpPr txBox="1"/>
          <p:nvPr/>
        </p:nvSpPr>
        <p:spPr>
          <a:xfrm>
            <a:off x="432619" y="658761"/>
            <a:ext cx="10835149" cy="388279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IN" sz="3600" b="1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How Web Applications Work</a:t>
            </a:r>
            <a:endParaRPr lang="en-IN" sz="36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lvl="0" indent="-342900">
              <a:lnSpc>
                <a:spcPct val="107000"/>
              </a:lnSpc>
              <a:spcAft>
                <a:spcPts val="800"/>
              </a:spcAft>
              <a:buFont typeface="+mj-lt"/>
              <a:buAutoNum type="arabicPeriod"/>
              <a:tabLst>
                <a:tab pos="457200" algn="l"/>
              </a:tabLst>
            </a:pPr>
            <a:r>
              <a:rPr lang="en-IN" sz="28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User interacts with the web interface (frontend).</a:t>
            </a:r>
          </a:p>
          <a:p>
            <a:pPr marL="342900" lvl="0" indent="-342900">
              <a:lnSpc>
                <a:spcPct val="107000"/>
              </a:lnSpc>
              <a:spcAft>
                <a:spcPts val="800"/>
              </a:spcAft>
              <a:buFont typeface="+mj-lt"/>
              <a:buAutoNum type="arabicPeriod"/>
              <a:tabLst>
                <a:tab pos="457200" algn="l"/>
              </a:tabLst>
            </a:pPr>
            <a:r>
              <a:rPr lang="en-IN" sz="28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Browser sends requests to the server.</a:t>
            </a:r>
          </a:p>
          <a:p>
            <a:pPr marL="342900" lvl="0" indent="-342900">
              <a:lnSpc>
                <a:spcPct val="107000"/>
              </a:lnSpc>
              <a:spcAft>
                <a:spcPts val="800"/>
              </a:spcAft>
              <a:buFont typeface="+mj-lt"/>
              <a:buAutoNum type="arabicPeriod"/>
              <a:tabLst>
                <a:tab pos="457200" algn="l"/>
              </a:tabLst>
            </a:pPr>
            <a:r>
              <a:rPr lang="en-IN" sz="28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Server processes requests and interacts with the database if necessary.</a:t>
            </a:r>
          </a:p>
          <a:p>
            <a:pPr marL="342900" lvl="0" indent="-342900">
              <a:lnSpc>
                <a:spcPct val="107000"/>
              </a:lnSpc>
              <a:spcAft>
                <a:spcPts val="800"/>
              </a:spcAft>
              <a:buFont typeface="+mj-lt"/>
              <a:buAutoNum type="arabicPeriod"/>
              <a:tabLst>
                <a:tab pos="457200" algn="l"/>
              </a:tabLst>
            </a:pPr>
            <a:r>
              <a:rPr lang="en-IN" sz="28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The server returns a response to the client.</a:t>
            </a:r>
          </a:p>
          <a:p>
            <a:pPr marL="342900" lvl="0" indent="-342900">
              <a:lnSpc>
                <a:spcPct val="107000"/>
              </a:lnSpc>
              <a:spcAft>
                <a:spcPts val="800"/>
              </a:spcAft>
              <a:buFont typeface="+mj-lt"/>
              <a:buAutoNum type="arabicPeriod"/>
              <a:tabLst>
                <a:tab pos="457200" algn="l"/>
              </a:tabLst>
            </a:pPr>
            <a:r>
              <a:rPr lang="en-IN" sz="28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The browser renders the response for the user.</a:t>
            </a:r>
          </a:p>
          <a:p>
            <a:endParaRPr lang="en-IN" dirty="0"/>
          </a:p>
        </p:txBody>
      </p:sp>
      <p:pic>
        <p:nvPicPr>
          <p:cNvPr id="4098" name="Picture 2" descr="Client-Server Architecture | EN.601.421: Object-Oriented Software ...">
            <a:extLst>
              <a:ext uri="{FF2B5EF4-FFF2-40B4-BE49-F238E27FC236}">
                <a16:creationId xmlns:a16="http://schemas.microsoft.com/office/drawing/2014/main" id="{349563F9-2D20-FBDF-82EB-83ECD612D82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3447998"/>
            <a:ext cx="12192000" cy="341000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88565478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182A134A-1763-42DF-8C4D-3E199E681883}"/>
              </a:ext>
            </a:extLst>
          </p:cNvPr>
          <p:cNvSpPr txBox="1"/>
          <p:nvPr/>
        </p:nvSpPr>
        <p:spPr>
          <a:xfrm>
            <a:off x="5638800" y="2974258"/>
            <a:ext cx="914400" cy="9144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IN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92857903-C633-41A1-A03C-45F03141944C}"/>
              </a:ext>
            </a:extLst>
          </p:cNvPr>
          <p:cNvSpPr txBox="1"/>
          <p:nvPr/>
        </p:nvSpPr>
        <p:spPr>
          <a:xfrm>
            <a:off x="176981" y="363794"/>
            <a:ext cx="12015019" cy="7543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IN" sz="3200" b="1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Technologies Used in Web Apps</a:t>
            </a:r>
            <a:endParaRPr lang="en-IN" sz="32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lvl="0" indent="-342900">
              <a:lnSpc>
                <a:spcPct val="107000"/>
              </a:lnSpc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IN" sz="2400" b="1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Frontend Technologies:</a:t>
            </a:r>
            <a:r>
              <a:rPr lang="en-IN" sz="24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HTML, CSS, JavaScript (React, Angular, Vue.js).</a:t>
            </a:r>
          </a:p>
          <a:p>
            <a:pPr marL="342900" lvl="0" indent="-342900">
              <a:lnSpc>
                <a:spcPct val="107000"/>
              </a:lnSpc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IN" sz="2400" b="1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Backend Technologies:</a:t>
            </a:r>
            <a:r>
              <a:rPr lang="en-IN" sz="24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Node.js, Django, Flask, PHP, Ruby on Rails.</a:t>
            </a:r>
          </a:p>
          <a:p>
            <a:pPr marL="342900" lvl="0" indent="-342900">
              <a:lnSpc>
                <a:spcPct val="107000"/>
              </a:lnSpc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IN" sz="2400" b="1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Databases:</a:t>
            </a:r>
            <a:r>
              <a:rPr lang="en-IN" sz="24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MySQL, PostgreSQL, Firebase, MongoDB.</a:t>
            </a:r>
          </a:p>
          <a:p>
            <a:pPr marL="342900" lvl="0" indent="-342900">
              <a:lnSpc>
                <a:spcPct val="107000"/>
              </a:lnSpc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IN" sz="2400" b="1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Security &amp; Performance:</a:t>
            </a:r>
            <a:r>
              <a:rPr lang="en-IN" sz="24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Web Application Firewalls (WAF), Content Delivery Networks (CDN).</a:t>
            </a:r>
          </a:p>
          <a:p>
            <a:pPr marL="342900" lvl="0" indent="-342900">
              <a:lnSpc>
                <a:spcPct val="107000"/>
              </a:lnSpc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IN" sz="2400" b="1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Networking &amp; APIs:</a:t>
            </a:r>
            <a:r>
              <a:rPr lang="en-IN" sz="24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Communication between frontend and backend via REST or </a:t>
            </a:r>
            <a:r>
              <a:rPr lang="en-IN" sz="2400" kern="100" dirty="0" err="1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GraphQL</a:t>
            </a:r>
            <a:r>
              <a:rPr lang="en-IN" sz="24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APIs.</a:t>
            </a:r>
          </a:p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IN" sz="3600" b="1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Types of Web Applications</a:t>
            </a:r>
            <a:endParaRPr lang="en-IN" sz="36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lvl="0" indent="-342900">
              <a:lnSpc>
                <a:spcPct val="107000"/>
              </a:lnSpc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IN" sz="2400" b="1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Static Web Apps:</a:t>
            </a:r>
            <a:r>
              <a:rPr lang="en-IN" sz="24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Simple pages with no interaction (e.g., portfolios, blogs).</a:t>
            </a:r>
          </a:p>
          <a:p>
            <a:pPr marL="342900" lvl="0" indent="-342900">
              <a:lnSpc>
                <a:spcPct val="107000"/>
              </a:lnSpc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IN" sz="2400" b="1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Dynamic Web Apps:</a:t>
            </a:r>
            <a:r>
              <a:rPr lang="en-IN" sz="24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Apps that interact with a database (e.g., e-commerce sites, social media).</a:t>
            </a:r>
          </a:p>
          <a:p>
            <a:pPr marL="342900" lvl="0" indent="-342900">
              <a:lnSpc>
                <a:spcPct val="107000"/>
              </a:lnSpc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endParaRPr lang="en-IN" sz="2400" kern="100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lvl="0">
              <a:lnSpc>
                <a:spcPct val="107000"/>
              </a:lnSpc>
              <a:spcAft>
                <a:spcPts val="800"/>
              </a:spcAft>
              <a:buSzPts val="1000"/>
              <a:tabLst>
                <a:tab pos="457200" algn="l"/>
              </a:tabLst>
            </a:pPr>
            <a:endParaRPr lang="en-IN" sz="24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endParaRPr lang="en-IN" sz="2400" dirty="0"/>
          </a:p>
        </p:txBody>
      </p:sp>
    </p:spTree>
    <p:extLst>
      <p:ext uri="{BB962C8B-B14F-4D97-AF65-F5344CB8AC3E}">
        <p14:creationId xmlns:p14="http://schemas.microsoft.com/office/powerpoint/2010/main" val="124698833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005F2C20-BA58-F85C-4143-9C1BF2928915}"/>
              </a:ext>
            </a:extLst>
          </p:cNvPr>
          <p:cNvSpPr txBox="1"/>
          <p:nvPr/>
        </p:nvSpPr>
        <p:spPr>
          <a:xfrm>
            <a:off x="88490" y="88491"/>
            <a:ext cx="11818375" cy="705771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IN" sz="2000" b="1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Fundamentals of a URL (Uniform Resource Locator)</a:t>
            </a:r>
          </a:p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IN" sz="12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A </a:t>
            </a:r>
            <a:r>
              <a:rPr lang="en-IN" sz="1200" b="1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URL (Uniform Resource Locator)</a:t>
            </a:r>
            <a:r>
              <a:rPr lang="en-IN" sz="12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is the address used to access resources on the internet, such as web pages, images, and files. It consists of multiple components that define how to locate and retrieve the resource.</a:t>
            </a:r>
          </a:p>
          <a:p>
            <a:pPr>
              <a:spcAft>
                <a:spcPts val="800"/>
              </a:spcAft>
            </a:pPr>
            <a:r>
              <a:rPr lang="en-IN" sz="1200" b="1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Components of a URL</a:t>
            </a:r>
            <a:endParaRPr lang="en-IN" sz="12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lvl="0" indent="-342900">
              <a:spcAft>
                <a:spcPts val="800"/>
              </a:spcAft>
              <a:buFont typeface="+mj-lt"/>
              <a:buAutoNum type="arabicPeriod"/>
              <a:tabLst>
                <a:tab pos="457200" algn="l"/>
              </a:tabLst>
            </a:pPr>
            <a:r>
              <a:rPr lang="en-IN" sz="1200" b="1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Protocol (Scheme)</a:t>
            </a:r>
            <a:endParaRPr lang="en-IN" sz="12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742950" lvl="1" indent="-285750">
              <a:spcAft>
                <a:spcPts val="800"/>
              </a:spcAft>
              <a:buSzPts val="1000"/>
              <a:buFont typeface="Courier New" panose="02070309020205020404" pitchFamily="49" charset="0"/>
              <a:buChar char="o"/>
              <a:tabLst>
                <a:tab pos="914400" algn="l"/>
              </a:tabLst>
            </a:pPr>
            <a:r>
              <a:rPr lang="en-IN" sz="12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Examples: http, https</a:t>
            </a:r>
          </a:p>
          <a:p>
            <a:pPr marL="742950" lvl="1" indent="-285750">
              <a:spcAft>
                <a:spcPts val="800"/>
              </a:spcAft>
              <a:buSzPts val="1000"/>
              <a:buFont typeface="Courier New" panose="02070309020205020404" pitchFamily="49" charset="0"/>
              <a:buChar char="o"/>
              <a:tabLst>
                <a:tab pos="914400" algn="l"/>
              </a:tabLst>
            </a:pPr>
            <a:r>
              <a:rPr lang="en-IN" sz="12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Example: https://</a:t>
            </a:r>
          </a:p>
          <a:p>
            <a:pPr marL="342900" lvl="0" indent="-342900">
              <a:spcAft>
                <a:spcPts val="800"/>
              </a:spcAft>
              <a:buFont typeface="+mj-lt"/>
              <a:buAutoNum type="arabicPeriod"/>
              <a:tabLst>
                <a:tab pos="457200" algn="l"/>
              </a:tabLst>
            </a:pPr>
            <a:r>
              <a:rPr lang="en-IN" sz="1200" b="1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Domain Name (Host)</a:t>
            </a:r>
            <a:endParaRPr lang="en-IN" sz="12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742950" lvl="1" indent="-285750">
              <a:spcAft>
                <a:spcPts val="800"/>
              </a:spcAft>
              <a:buSzPts val="1000"/>
              <a:buFont typeface="Courier New" panose="02070309020205020404" pitchFamily="49" charset="0"/>
              <a:buChar char="o"/>
              <a:tabLst>
                <a:tab pos="914400" algn="l"/>
              </a:tabLst>
            </a:pPr>
            <a:r>
              <a:rPr lang="en-IN" sz="12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Can be a hostname (www.example.com) or an IP address (192.168.1.1).</a:t>
            </a:r>
          </a:p>
          <a:p>
            <a:pPr marL="742950" lvl="1" indent="-285750">
              <a:spcAft>
                <a:spcPts val="800"/>
              </a:spcAft>
              <a:buSzPts val="1000"/>
              <a:buFont typeface="Courier New" panose="02070309020205020404" pitchFamily="49" charset="0"/>
              <a:buChar char="o"/>
              <a:tabLst>
                <a:tab pos="914400" algn="l"/>
              </a:tabLst>
            </a:pPr>
            <a:r>
              <a:rPr lang="en-IN" sz="12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Example: </a:t>
            </a:r>
            <a:r>
              <a:rPr lang="en-IN" sz="12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  <a:hlinkClick r:id="rId2"/>
              </a:rPr>
              <a:t>www.example.com</a:t>
            </a:r>
            <a:endParaRPr lang="en-IN" sz="12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742950" lvl="1" indent="-285750">
              <a:spcAft>
                <a:spcPts val="800"/>
              </a:spcAft>
              <a:buSzPts val="1000"/>
              <a:buFont typeface="Courier New" panose="02070309020205020404" pitchFamily="49" charset="0"/>
              <a:buChar char="o"/>
              <a:tabLst>
                <a:tab pos="914400" algn="l"/>
              </a:tabLst>
            </a:pPr>
            <a:r>
              <a:rPr lang="en-IN" sz="1200" kern="100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DNS</a:t>
            </a:r>
            <a:endParaRPr lang="en-IN" sz="12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lvl="0" indent="-342900">
              <a:spcAft>
                <a:spcPts val="800"/>
              </a:spcAft>
              <a:buFont typeface="+mj-lt"/>
              <a:buAutoNum type="arabicPeriod"/>
              <a:tabLst>
                <a:tab pos="457200" algn="l"/>
              </a:tabLst>
            </a:pPr>
            <a:r>
              <a:rPr lang="en-IN" sz="1200" b="1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Port </a:t>
            </a:r>
            <a:endParaRPr lang="en-IN" sz="12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742950" lvl="1" indent="-285750">
              <a:spcAft>
                <a:spcPts val="800"/>
              </a:spcAft>
              <a:buSzPts val="1000"/>
              <a:buFont typeface="Courier New" panose="02070309020205020404" pitchFamily="49" charset="0"/>
              <a:buChar char="o"/>
              <a:tabLst>
                <a:tab pos="914400" algn="l"/>
              </a:tabLst>
            </a:pPr>
            <a:r>
              <a:rPr lang="en-IN" sz="12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Specifies the communication port on the server.</a:t>
            </a:r>
          </a:p>
          <a:p>
            <a:pPr marL="742950" lvl="1" indent="-285750">
              <a:spcAft>
                <a:spcPts val="800"/>
              </a:spcAft>
              <a:buSzPts val="1000"/>
              <a:buFont typeface="Courier New" panose="02070309020205020404" pitchFamily="49" charset="0"/>
              <a:buChar char="o"/>
              <a:tabLst>
                <a:tab pos="914400" algn="l"/>
              </a:tabLst>
            </a:pPr>
            <a:r>
              <a:rPr lang="en-IN" sz="12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Default ports: 80 for HTTP, 443 for HTTPS.</a:t>
            </a:r>
          </a:p>
          <a:p>
            <a:pPr marL="742950" lvl="1" indent="-285750">
              <a:spcAft>
                <a:spcPts val="800"/>
              </a:spcAft>
              <a:buSzPts val="1000"/>
              <a:buFont typeface="Courier New" panose="02070309020205020404" pitchFamily="49" charset="0"/>
              <a:buChar char="o"/>
              <a:tabLst>
                <a:tab pos="914400" algn="l"/>
              </a:tabLst>
            </a:pPr>
            <a:r>
              <a:rPr lang="en-IN" sz="12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Example: :443</a:t>
            </a:r>
          </a:p>
          <a:p>
            <a:pPr marL="342900" lvl="0" indent="-342900">
              <a:spcAft>
                <a:spcPts val="800"/>
              </a:spcAft>
              <a:buFont typeface="+mj-lt"/>
              <a:buAutoNum type="arabicPeriod"/>
              <a:tabLst>
                <a:tab pos="457200" algn="l"/>
              </a:tabLst>
            </a:pPr>
            <a:r>
              <a:rPr lang="en-IN" sz="1200" b="1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Path</a:t>
            </a:r>
            <a:endParaRPr lang="en-IN" sz="12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742950" lvl="1" indent="-285750">
              <a:spcAft>
                <a:spcPts val="800"/>
              </a:spcAft>
              <a:buSzPts val="1000"/>
              <a:buFont typeface="Courier New" panose="02070309020205020404" pitchFamily="49" charset="0"/>
              <a:buChar char="o"/>
              <a:tabLst>
                <a:tab pos="914400" algn="l"/>
              </a:tabLst>
            </a:pPr>
            <a:r>
              <a:rPr lang="en-IN" sz="12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Indicates the specific resource or directory on the server.</a:t>
            </a:r>
          </a:p>
          <a:p>
            <a:pPr marL="742950" lvl="1" indent="-285750">
              <a:spcAft>
                <a:spcPts val="800"/>
              </a:spcAft>
              <a:buSzPts val="1000"/>
              <a:buFont typeface="Courier New" panose="02070309020205020404" pitchFamily="49" charset="0"/>
              <a:buChar char="o"/>
              <a:tabLst>
                <a:tab pos="914400" algn="l"/>
              </a:tabLst>
            </a:pPr>
            <a:r>
              <a:rPr lang="en-IN" sz="12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Example: /blog/article</a:t>
            </a:r>
          </a:p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IN" sz="1200" b="1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How URLs Work in Web Applications</a:t>
            </a:r>
            <a:endParaRPr lang="en-IN" sz="12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lvl="0" indent="-342900">
              <a:lnSpc>
                <a:spcPct val="107000"/>
              </a:lnSpc>
              <a:spcAft>
                <a:spcPts val="800"/>
              </a:spcAft>
              <a:buFont typeface="+mj-lt"/>
              <a:buAutoNum type="arabicPeriod"/>
              <a:tabLst>
                <a:tab pos="457200" algn="l"/>
              </a:tabLst>
            </a:pPr>
            <a:r>
              <a:rPr lang="en-IN" sz="1200" b="1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User enters a URL</a:t>
            </a:r>
            <a:r>
              <a:rPr lang="en-IN" sz="12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→ Browser sends an HTTP/HTTPS request.</a:t>
            </a:r>
          </a:p>
          <a:p>
            <a:pPr marL="342900" lvl="0" indent="-342900">
              <a:lnSpc>
                <a:spcPct val="107000"/>
              </a:lnSpc>
              <a:spcAft>
                <a:spcPts val="800"/>
              </a:spcAft>
              <a:buFont typeface="+mj-lt"/>
              <a:buAutoNum type="arabicPeriod"/>
              <a:tabLst>
                <a:tab pos="457200" algn="l"/>
              </a:tabLst>
            </a:pPr>
            <a:r>
              <a:rPr lang="en-IN" sz="1200" b="1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DNS resolves the domain name</a:t>
            </a:r>
            <a:r>
              <a:rPr lang="en-IN" sz="12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→ Translates it into an IP address.</a:t>
            </a:r>
          </a:p>
          <a:p>
            <a:pPr marL="342900" lvl="0" indent="-342900">
              <a:lnSpc>
                <a:spcPct val="107000"/>
              </a:lnSpc>
              <a:spcAft>
                <a:spcPts val="800"/>
              </a:spcAft>
              <a:buFont typeface="+mj-lt"/>
              <a:buAutoNum type="arabicPeriod"/>
              <a:tabLst>
                <a:tab pos="457200" algn="l"/>
              </a:tabLst>
            </a:pPr>
            <a:r>
              <a:rPr lang="en-IN" sz="1200" b="1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Server processes the request</a:t>
            </a:r>
            <a:r>
              <a:rPr lang="en-IN" sz="12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→ Returns the requested resource.</a:t>
            </a:r>
          </a:p>
          <a:p>
            <a:pPr marL="342900" lvl="0" indent="-342900">
              <a:lnSpc>
                <a:spcPct val="107000"/>
              </a:lnSpc>
              <a:spcAft>
                <a:spcPts val="800"/>
              </a:spcAft>
              <a:buFont typeface="+mj-lt"/>
              <a:buAutoNum type="arabicPeriod"/>
              <a:tabLst>
                <a:tab pos="457200" algn="l"/>
              </a:tabLst>
            </a:pPr>
            <a:r>
              <a:rPr lang="en-IN" sz="1200" b="1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Browser renders the response</a:t>
            </a:r>
            <a:r>
              <a:rPr lang="en-IN" sz="12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→ Displays content to the user.</a:t>
            </a:r>
          </a:p>
          <a:p>
            <a:endParaRPr lang="en-IN" dirty="0"/>
          </a:p>
        </p:txBody>
      </p:sp>
      <p:sp>
        <p:nvSpPr>
          <p:cNvPr id="3" name="AutoShape 4" descr="Requirements of Website &amp; Build a Stunning Website Step-by-Step - TIPsoont">
            <a:extLst>
              <a:ext uri="{FF2B5EF4-FFF2-40B4-BE49-F238E27FC236}">
                <a16:creationId xmlns:a16="http://schemas.microsoft.com/office/drawing/2014/main" id="{BEF9A4D1-0EF5-0C3E-25D5-07E47C413390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943600" y="32766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pic>
        <p:nvPicPr>
          <p:cNvPr id="2054" name="Picture 6" descr="Requirements of Website &amp; Build a Stunning Website Step-by-Step - TIPsoont">
            <a:extLst>
              <a:ext uri="{FF2B5EF4-FFF2-40B4-BE49-F238E27FC236}">
                <a16:creationId xmlns:a16="http://schemas.microsoft.com/office/drawing/2014/main" id="{7EDDA6FC-5131-08AF-6B8F-AABD70D0C30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004619" y="2855374"/>
            <a:ext cx="7187381" cy="377244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53659503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1F6E3E6D-DF5F-C368-77B6-256B1BB74576}"/>
              </a:ext>
            </a:extLst>
          </p:cNvPr>
          <p:cNvSpPr txBox="1"/>
          <p:nvPr/>
        </p:nvSpPr>
        <p:spPr>
          <a:xfrm>
            <a:off x="0" y="0"/>
            <a:ext cx="12192000" cy="75316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IN" sz="2800" b="1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Phases of Web Application Penetration Testing</a:t>
            </a:r>
            <a:endParaRPr lang="en-IN" sz="28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IN" sz="2800" b="1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1. Reconnaissance (Information Gathering)</a:t>
            </a:r>
            <a:endParaRPr lang="en-IN" sz="28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IN" sz="28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Gathering initial information about the target application.</a:t>
            </a:r>
          </a:p>
          <a:p>
            <a:pPr marL="342900" lvl="0" indent="-342900">
              <a:lnSpc>
                <a:spcPct val="107000"/>
              </a:lnSpc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IN" sz="2800" b="1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Passive Reconnaissance:</a:t>
            </a:r>
            <a:r>
              <a:rPr lang="en-IN" sz="28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WHOIS lookup, Google Dorking, Shodan, OSINT.</a:t>
            </a:r>
          </a:p>
          <a:p>
            <a:pPr marL="342900" lvl="0" indent="-342900">
              <a:lnSpc>
                <a:spcPct val="107000"/>
              </a:lnSpc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IN" sz="2800" b="1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Active Reconnaissance:</a:t>
            </a:r>
            <a:r>
              <a:rPr lang="en-IN" sz="28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Subdomain enumeration, DNS lookup, banner grabbing.</a:t>
            </a:r>
          </a:p>
          <a:p>
            <a:pPr marL="342900" lvl="0" indent="-342900">
              <a:lnSpc>
                <a:spcPct val="107000"/>
              </a:lnSpc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IN" sz="2800" b="1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Tools:</a:t>
            </a:r>
            <a:r>
              <a:rPr lang="en-IN" sz="28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IN" sz="2800" kern="100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Nmap</a:t>
            </a:r>
            <a:r>
              <a:rPr lang="en-IN" sz="28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, Sublist3r, Recon-ng, </a:t>
            </a:r>
            <a:r>
              <a:rPr lang="en-IN" sz="2800" kern="100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OSINT.</a:t>
            </a:r>
          </a:p>
          <a:p>
            <a:pPr lvl="0">
              <a:lnSpc>
                <a:spcPct val="107000"/>
              </a:lnSpc>
              <a:spcAft>
                <a:spcPts val="800"/>
              </a:spcAft>
              <a:buSzPts val="1000"/>
              <a:tabLst>
                <a:tab pos="457200" algn="l"/>
              </a:tabLst>
            </a:pPr>
            <a:endParaRPr lang="en-IN" sz="28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IN" sz="2800" b="1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2. Scanning for Vulnerabilities</a:t>
            </a:r>
            <a:endParaRPr lang="en-IN" sz="28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IN" sz="28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Identifying potential security flaws using automated and manual testing.</a:t>
            </a:r>
          </a:p>
          <a:p>
            <a:pPr marL="342900" lvl="0" indent="-342900">
              <a:lnSpc>
                <a:spcPct val="107000"/>
              </a:lnSpc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IN" sz="2800" b="1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Automated Scanners:</a:t>
            </a:r>
            <a:r>
              <a:rPr lang="en-IN" sz="28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Burp Suite, HCL App Scan, </a:t>
            </a:r>
            <a:r>
              <a:rPr lang="en-IN" sz="2800" kern="100" dirty="0" err="1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Nikto</a:t>
            </a:r>
            <a:r>
              <a:rPr lang="en-IN" sz="28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, OWASP ZAP.</a:t>
            </a:r>
          </a:p>
          <a:p>
            <a:pPr marL="342900" lvl="0" indent="-342900">
              <a:lnSpc>
                <a:spcPct val="107000"/>
              </a:lnSpc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IN" sz="2800" b="1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Manual Testing:</a:t>
            </a:r>
            <a:r>
              <a:rPr lang="en-IN" sz="28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Checking headers, cookies, parameters</a:t>
            </a:r>
            <a:r>
              <a:rPr lang="en-IN" sz="2800" kern="100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and every input field</a:t>
            </a:r>
            <a:r>
              <a:rPr lang="en-IN" sz="28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.</a:t>
            </a:r>
          </a:p>
          <a:p>
            <a:pPr marL="342900" lvl="0" indent="-342900">
              <a:lnSpc>
                <a:spcPct val="107000"/>
              </a:lnSpc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IN" sz="2800" b="1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Directory </a:t>
            </a:r>
            <a:r>
              <a:rPr lang="en-IN" sz="2800" b="1" kern="100" dirty="0" err="1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Bruteforcing</a:t>
            </a:r>
            <a:r>
              <a:rPr lang="en-IN" sz="2800" b="1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:</a:t>
            </a:r>
            <a:r>
              <a:rPr lang="en-IN" sz="28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IN" sz="2800" kern="100" dirty="0" err="1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dirsearch</a:t>
            </a:r>
            <a:r>
              <a:rPr lang="en-IN" sz="28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, </a:t>
            </a:r>
            <a:r>
              <a:rPr lang="en-IN" sz="2800" kern="100" dirty="0" err="1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gobuster</a:t>
            </a:r>
            <a:r>
              <a:rPr lang="en-IN" sz="28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, </a:t>
            </a:r>
            <a:r>
              <a:rPr lang="en-IN" sz="2800" kern="100" dirty="0" err="1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fuff</a:t>
            </a:r>
            <a:r>
              <a:rPr lang="en-IN" sz="28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.</a:t>
            </a:r>
          </a:p>
          <a:p>
            <a:pPr lvl="0">
              <a:lnSpc>
                <a:spcPct val="107000"/>
              </a:lnSpc>
              <a:spcAft>
                <a:spcPts val="800"/>
              </a:spcAft>
              <a:buSzPts val="1000"/>
              <a:tabLst>
                <a:tab pos="457200" algn="l"/>
              </a:tabLst>
            </a:pPr>
            <a:endParaRPr lang="en-IN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43931956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91111A96-AC04-F753-CD15-7B231CBAEA3C}"/>
              </a:ext>
            </a:extLst>
          </p:cNvPr>
          <p:cNvSpPr txBox="1"/>
          <p:nvPr/>
        </p:nvSpPr>
        <p:spPr>
          <a:xfrm>
            <a:off x="255638" y="159836"/>
            <a:ext cx="11680723" cy="6538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IN" sz="2800" b="1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Exploiting Web Vulnerabilities</a:t>
            </a:r>
            <a:endParaRPr lang="en-IN" sz="28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lvl="0" indent="-342900">
              <a:lnSpc>
                <a:spcPct val="107000"/>
              </a:lnSpc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IN" sz="2800" b="1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SQL Injection (SQLi):</a:t>
            </a:r>
            <a:r>
              <a:rPr lang="en-IN" sz="28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Extracting sensitive database info.</a:t>
            </a:r>
          </a:p>
          <a:p>
            <a:pPr marL="342900" lvl="0" indent="-342900">
              <a:lnSpc>
                <a:spcPct val="107000"/>
              </a:lnSpc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IN" sz="2800" b="1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Cross-Site Scripting (XSS):</a:t>
            </a:r>
            <a:r>
              <a:rPr lang="en-IN" sz="28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Injecting malicious scripts.</a:t>
            </a:r>
          </a:p>
          <a:p>
            <a:pPr marL="342900" lvl="0" indent="-342900">
              <a:lnSpc>
                <a:spcPct val="107000"/>
              </a:lnSpc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IN" sz="2800" b="1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Broken Authentication:</a:t>
            </a:r>
            <a:r>
              <a:rPr lang="en-IN" sz="28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Bypassing login mechanisms.</a:t>
            </a:r>
          </a:p>
          <a:p>
            <a:pPr marL="342900" lvl="0" indent="-342900">
              <a:lnSpc>
                <a:spcPct val="107000"/>
              </a:lnSpc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IN" sz="2800" b="1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Tools:</a:t>
            </a:r>
            <a:r>
              <a:rPr lang="en-IN" sz="28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IN" sz="2800" kern="100" dirty="0" err="1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sqlmap</a:t>
            </a:r>
            <a:r>
              <a:rPr lang="en-IN" sz="28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, Burp suite,  XSS Hunter, </a:t>
            </a:r>
            <a:r>
              <a:rPr lang="en-IN" sz="2800" kern="100" dirty="0" err="1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wfuzz</a:t>
            </a:r>
            <a:r>
              <a:rPr lang="en-IN" sz="28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, hydra.</a:t>
            </a:r>
          </a:p>
          <a:p>
            <a:pPr>
              <a:lnSpc>
                <a:spcPct val="107000"/>
              </a:lnSpc>
              <a:spcAft>
                <a:spcPts val="800"/>
              </a:spcAft>
            </a:pPr>
            <a:endParaRPr lang="en-IN" sz="2800" b="1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IN" sz="2800" b="1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Reporting &amp; Remediation</a:t>
            </a:r>
            <a:endParaRPr lang="en-IN" sz="28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lvl="0" indent="-342900">
              <a:lnSpc>
                <a:spcPct val="107000"/>
              </a:lnSpc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IN" sz="2800" b="1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Documenting Findings:</a:t>
            </a:r>
            <a:r>
              <a:rPr lang="en-IN" sz="28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Categorizing severity (Critical, High, Medium, Low).</a:t>
            </a:r>
          </a:p>
          <a:p>
            <a:pPr marL="342900" lvl="0" indent="-342900">
              <a:lnSpc>
                <a:spcPct val="107000"/>
              </a:lnSpc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IN" sz="2800" b="1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Providing Proof-of-Concept (PoC).</a:t>
            </a:r>
            <a:endParaRPr lang="en-IN" sz="28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lvl="0" indent="-342900">
              <a:lnSpc>
                <a:spcPct val="107000"/>
              </a:lnSpc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IN" sz="2800" b="1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Suggesting Fixes &amp; Best Practices.</a:t>
            </a:r>
            <a:endParaRPr lang="en-IN" sz="28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lvl="0" indent="-342900">
              <a:lnSpc>
                <a:spcPct val="107000"/>
              </a:lnSpc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IN" sz="2800" b="1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Tools for Reporting:</a:t>
            </a:r>
            <a:r>
              <a:rPr lang="en-IN" sz="28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MS Word</a:t>
            </a:r>
          </a:p>
          <a:p>
            <a:endParaRPr lang="en-IN" sz="1600" dirty="0"/>
          </a:p>
        </p:txBody>
      </p:sp>
    </p:spTree>
    <p:extLst>
      <p:ext uri="{BB962C8B-B14F-4D97-AF65-F5344CB8AC3E}">
        <p14:creationId xmlns:p14="http://schemas.microsoft.com/office/powerpoint/2010/main" val="17620760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72116EB4-DFE0-CB87-879E-733CCEB218E3}"/>
              </a:ext>
            </a:extLst>
          </p:cNvPr>
          <p:cNvSpPr txBox="1"/>
          <p:nvPr/>
        </p:nvSpPr>
        <p:spPr>
          <a:xfrm>
            <a:off x="422787" y="916546"/>
            <a:ext cx="11769213" cy="526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3600" b="1" dirty="0"/>
              <a:t>cybersecurity standards and frameworks</a:t>
            </a:r>
            <a:endParaRPr lang="en-US" sz="3600" b="1" dirty="0"/>
          </a:p>
          <a:p>
            <a:endParaRPr lang="en-US" sz="3600" b="1" dirty="0"/>
          </a:p>
          <a:p>
            <a:pPr marL="571500" indent="-5715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3600" b="1" dirty="0"/>
              <a:t>OWASP Top 10: </a:t>
            </a:r>
            <a:r>
              <a:rPr lang="en-US" sz="3600" dirty="0"/>
              <a:t>Open Web Application Security Project.</a:t>
            </a:r>
          </a:p>
          <a:p>
            <a:pPr marL="571500" indent="-5715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3600" b="1" dirty="0"/>
              <a:t>NIST Cybersecurity Framework </a:t>
            </a:r>
            <a:r>
              <a:rPr lang="en-US" sz="3600" dirty="0"/>
              <a:t>(National Institute of Standards and Technology)</a:t>
            </a:r>
          </a:p>
          <a:p>
            <a:pPr marL="571500" indent="-5715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3600" b="1" dirty="0"/>
              <a:t>SANS CWE Top 25 </a:t>
            </a:r>
            <a:r>
              <a:rPr lang="en-US" sz="3600" dirty="0"/>
              <a:t>(Common Weakness Enumeration)</a:t>
            </a:r>
          </a:p>
          <a:p>
            <a:pPr marL="571500" indent="-5715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3600" b="1" dirty="0"/>
              <a:t>CIS Controls </a:t>
            </a:r>
            <a:r>
              <a:rPr lang="en-US" sz="3600" dirty="0"/>
              <a:t>(Center for Internet Security)</a:t>
            </a:r>
            <a:endParaRPr lang="en-IN" sz="3600" dirty="0"/>
          </a:p>
        </p:txBody>
      </p:sp>
    </p:spTree>
    <p:extLst>
      <p:ext uri="{BB962C8B-B14F-4D97-AF65-F5344CB8AC3E}">
        <p14:creationId xmlns:p14="http://schemas.microsoft.com/office/powerpoint/2010/main" val="5573179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OWASP Updates Top 10 API Security Risks - Security Boulevard">
            <a:extLst>
              <a:ext uri="{FF2B5EF4-FFF2-40B4-BE49-F238E27FC236}">
                <a16:creationId xmlns:a16="http://schemas.microsoft.com/office/drawing/2014/main" id="{6CCDC3D8-BA3F-AB57-0C86-4DC9C2E9A95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147484"/>
            <a:ext cx="12192000" cy="671051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11306504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DF578307-B91A-57E1-86EB-29D03F65F4DA}"/>
              </a:ext>
            </a:extLst>
          </p:cNvPr>
          <p:cNvSpPr txBox="1"/>
          <p:nvPr/>
        </p:nvSpPr>
        <p:spPr>
          <a:xfrm>
            <a:off x="186814" y="-88490"/>
            <a:ext cx="11513574" cy="725557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3600" b="1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Full Introduction to Burp Suite</a:t>
            </a:r>
            <a:endParaRPr lang="en-IN" sz="36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endParaRPr lang="en-IN" sz="2400" dirty="0"/>
          </a:p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IN" sz="2400" b="1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What is Burp Suite?</a:t>
            </a:r>
            <a:endParaRPr lang="en-IN" sz="24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IN" sz="24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Burp Suite is a comprehensive tool for web security testing, used by penetration testers to find and exploit vulnerabilities in web applications.</a:t>
            </a:r>
          </a:p>
          <a:p>
            <a:pPr>
              <a:lnSpc>
                <a:spcPct val="107000"/>
              </a:lnSpc>
              <a:spcAft>
                <a:spcPts val="800"/>
              </a:spcAft>
            </a:pPr>
            <a:endParaRPr lang="en-IN" sz="24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IN" sz="2400" b="1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Key Features of Burp Suite</a:t>
            </a:r>
            <a:endParaRPr lang="en-IN" sz="24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lvl="0" indent="-342900">
              <a:lnSpc>
                <a:spcPct val="107000"/>
              </a:lnSpc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IN" sz="2400" b="1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Proxy Interception:</a:t>
            </a:r>
            <a:r>
              <a:rPr lang="en-IN" sz="24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Modify and </a:t>
            </a:r>
            <a:r>
              <a:rPr lang="en-IN" sz="2400" kern="100" dirty="0" err="1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analyze</a:t>
            </a:r>
            <a:r>
              <a:rPr lang="en-IN" sz="24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HTTP requests.</a:t>
            </a:r>
          </a:p>
          <a:p>
            <a:pPr marL="342900" lvl="0" indent="-342900">
              <a:lnSpc>
                <a:spcPct val="107000"/>
              </a:lnSpc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IN" sz="2400" b="1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Scanner:</a:t>
            </a:r>
            <a:r>
              <a:rPr lang="en-IN" sz="24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Automated vulnerability scanning.</a:t>
            </a:r>
          </a:p>
          <a:p>
            <a:pPr marL="342900" lvl="0" indent="-342900">
              <a:lnSpc>
                <a:spcPct val="107000"/>
              </a:lnSpc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IN" sz="2400" b="1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Intruder:</a:t>
            </a:r>
            <a:r>
              <a:rPr lang="en-IN" sz="24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Fuzzing and brute-force testing.</a:t>
            </a:r>
          </a:p>
          <a:p>
            <a:pPr marL="342900" lvl="0" indent="-342900">
              <a:lnSpc>
                <a:spcPct val="107000"/>
              </a:lnSpc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IN" sz="2400" b="1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Repeater:</a:t>
            </a:r>
            <a:r>
              <a:rPr lang="en-IN" sz="24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Manually modify and resend requests.</a:t>
            </a:r>
          </a:p>
          <a:p>
            <a:pPr marL="342900" lvl="0" indent="-342900">
              <a:lnSpc>
                <a:spcPct val="107000"/>
              </a:lnSpc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IN" sz="2400" b="1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Burp collaborator:</a:t>
            </a:r>
          </a:p>
          <a:p>
            <a:pPr marL="342900" lvl="0" indent="-342900">
              <a:lnSpc>
                <a:spcPct val="107000"/>
              </a:lnSpc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IN" sz="2400" b="1" kern="100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Comparer:</a:t>
            </a:r>
            <a:endParaRPr lang="en-IN" sz="2400" b="1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lvl="0" indent="-342900">
              <a:lnSpc>
                <a:spcPct val="107000"/>
              </a:lnSpc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IN" sz="2400" b="1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Decoder &amp; Comparer:</a:t>
            </a:r>
            <a:r>
              <a:rPr lang="en-IN" sz="24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IN" sz="2400" kern="100" dirty="0" err="1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Analyze</a:t>
            </a:r>
            <a:r>
              <a:rPr lang="en-IN" sz="24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encoded data and compare responses.</a:t>
            </a:r>
          </a:p>
          <a:p>
            <a:endParaRPr lang="en-IN" sz="2400" dirty="0"/>
          </a:p>
        </p:txBody>
      </p:sp>
    </p:spTree>
    <p:extLst>
      <p:ext uri="{BB962C8B-B14F-4D97-AF65-F5344CB8AC3E}">
        <p14:creationId xmlns:p14="http://schemas.microsoft.com/office/powerpoint/2010/main" val="249578717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E0D35E84-E4B3-59C7-F96E-3BCD2CED020A}"/>
              </a:ext>
            </a:extLst>
          </p:cNvPr>
          <p:cNvSpPr txBox="1"/>
          <p:nvPr/>
        </p:nvSpPr>
        <p:spPr>
          <a:xfrm>
            <a:off x="314632" y="393290"/>
            <a:ext cx="8829368" cy="399532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IN" sz="4400" b="1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Live Demonstration</a:t>
            </a:r>
          </a:p>
          <a:p>
            <a:pPr marL="342900" lvl="0" indent="-342900">
              <a:lnSpc>
                <a:spcPct val="107000"/>
              </a:lnSpc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endParaRPr lang="en-IN" sz="1800" b="1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lvl="0" indent="-342900">
              <a:lnSpc>
                <a:spcPct val="107000"/>
              </a:lnSpc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IN" sz="1800" b="1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SQL Injection Exploit:</a:t>
            </a:r>
            <a:r>
              <a:rPr lang="en-IN" sz="18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Using </a:t>
            </a:r>
            <a:r>
              <a:rPr lang="en-IN" sz="1800" kern="100" dirty="0" err="1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sqlmap</a:t>
            </a:r>
            <a:r>
              <a:rPr lang="en-IN" sz="18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to extract database information.</a:t>
            </a:r>
          </a:p>
          <a:p>
            <a:pPr marL="342900" lvl="0" indent="-342900">
              <a:lnSpc>
                <a:spcPct val="107000"/>
              </a:lnSpc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IN" b="1" kern="100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Clickjacking:</a:t>
            </a:r>
          </a:p>
          <a:p>
            <a:pPr marL="342900" lvl="0" indent="-342900">
              <a:lnSpc>
                <a:spcPct val="107000"/>
              </a:lnSpc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IN" sz="1800" b="1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CSRF:</a:t>
            </a:r>
          </a:p>
          <a:p>
            <a:pPr marL="342900" lvl="0" indent="-342900">
              <a:lnSpc>
                <a:spcPct val="107000"/>
              </a:lnSpc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IN" b="1" kern="100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SSRF</a:t>
            </a:r>
            <a:endParaRPr lang="en-IN" sz="1800" b="1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lvl="0" indent="-342900">
              <a:lnSpc>
                <a:spcPct val="107000"/>
              </a:lnSpc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IN" sz="1800" b="1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XSS Attack:</a:t>
            </a:r>
            <a:r>
              <a:rPr lang="en-IN" sz="18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Injecting a script into a vulnerable input field.</a:t>
            </a:r>
          </a:p>
          <a:p>
            <a:pPr marL="342900" lvl="0" indent="-342900">
              <a:lnSpc>
                <a:spcPct val="107000"/>
              </a:lnSpc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IN" sz="1800" b="1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Broken Authentication Exploit:</a:t>
            </a:r>
            <a:r>
              <a:rPr lang="en-IN" sz="18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Testing weak password policies.</a:t>
            </a:r>
          </a:p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IN" sz="1800" b="1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endParaRPr lang="en-IN" sz="18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13973097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24</TotalTime>
  <Words>855</Words>
  <Application>Microsoft Office PowerPoint</Application>
  <PresentationFormat>Widescreen</PresentationFormat>
  <Paragraphs>100</Paragraphs>
  <Slides>12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8" baseType="lpstr">
      <vt:lpstr>Arial</vt:lpstr>
      <vt:lpstr>Calibri</vt:lpstr>
      <vt:lpstr>Calibri Light</vt:lpstr>
      <vt:lpstr>Courier New</vt:lpstr>
      <vt:lpstr>Symbol</vt:lpstr>
      <vt:lpstr>Office Theme</vt:lpstr>
      <vt:lpstr>Web Application Penetration Testing 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Akshay .</dc:creator>
  <cp:lastModifiedBy>Akshay .</cp:lastModifiedBy>
  <cp:revision>6</cp:revision>
  <dcterms:created xsi:type="dcterms:W3CDTF">2025-02-20T15:44:55Z</dcterms:created>
  <dcterms:modified xsi:type="dcterms:W3CDTF">2025-02-20T16:27:59Z</dcterms:modified>
</cp:coreProperties>
</file>